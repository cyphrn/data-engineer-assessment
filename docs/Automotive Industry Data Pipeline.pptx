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00bac8"/>
            </a:solidFill>
            <a:ln w="1260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Bierstad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6-cylinder</c:v>
                </c:pt>
                <c:pt idx="1">
                  <c:v>4-cylinder</c:v>
                </c:pt>
                <c:pt idx="2">
                  <c:v>8-cylinder</c:v>
                </c:pt>
                <c:pt idx="3">
                  <c:v>5-cylinder</c:v>
                </c:pt>
                <c:pt idx="4">
                  <c:v>10-cylinder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219480</c:v>
                </c:pt>
                <c:pt idx="1">
                  <c:v>132264</c:v>
                </c:pt>
                <c:pt idx="2">
                  <c:v>96018</c:v>
                </c:pt>
                <c:pt idx="3">
                  <c:v>4278</c:v>
                </c:pt>
                <c:pt idx="4">
                  <c:v>1897</c:v>
                </c:pt>
              </c:numCache>
            </c:numRef>
          </c:val>
        </c:ser>
        <c:gapWidth val="219"/>
        <c:overlap val="-27"/>
        <c:axId val="75521079"/>
        <c:axId val="32829418"/>
      </c:barChart>
      <c:catAx>
        <c:axId val="7552107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32829418"/>
        <c:crosses val="autoZero"/>
        <c:auto val="1"/>
        <c:lblAlgn val="ctr"/>
        <c:lblOffset val="100"/>
        <c:noMultiLvlLbl val="0"/>
      </c:catAx>
      <c:valAx>
        <c:axId val="3282941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7552107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4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rgbClr val="009aa5"/>
            </a:solidFill>
            <a:ln w="1260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Bierstad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266</c:v>
                </c:pt>
                <c:pt idx="1">
                  <c:v>326</c:v>
                </c:pt>
                <c:pt idx="2">
                  <c:v>291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00bac8"/>
            </a:solidFill>
            <a:ln w="1260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Bierstad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205</c:v>
                </c:pt>
                <c:pt idx="1">
                  <c:v>224</c:v>
                </c:pt>
                <c:pt idx="2">
                  <c:v>226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Plug-in</c:v>
                </c:pt>
              </c:strCache>
            </c:strRef>
          </c:tx>
          <c:spPr>
            <a:solidFill>
              <a:srgbClr val="a1d5dd"/>
            </a:solidFill>
            <a:ln w="1260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Bierstad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23</c:v>
                </c:pt>
                <c:pt idx="1">
                  <c:v>67</c:v>
                </c:pt>
                <c:pt idx="2">
                  <c:v>30</c:v>
                </c:pt>
              </c:numCache>
            </c:numRef>
          </c:val>
        </c:ser>
        <c:gapWidth val="219"/>
        <c:overlap val="-27"/>
        <c:axId val="4210809"/>
        <c:axId val="25946662"/>
      </c:barChart>
      <c:catAx>
        <c:axId val="421080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25946662"/>
        <c:crosses val="autoZero"/>
        <c:auto val="1"/>
        <c:lblAlgn val="ctr"/>
        <c:lblOffset val="100"/>
        <c:noMultiLvlLbl val="0"/>
      </c:catAx>
      <c:valAx>
        <c:axId val="25946662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421080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97" b="0" u="none" strike="noStrike">
              <a:solidFill>
                <a:srgbClr val="595959"/>
              </a:solidFill>
              <a:uFillTx/>
              <a:latin typeface="Bierstadt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4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Stations</c:v>
                </c:pt>
              </c:strCache>
            </c:strRef>
          </c:tx>
          <c:spPr>
            <a:solidFill>
              <a:srgbClr val="00bac8"/>
            </a:solidFill>
            <a:ln w="1260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Electric</c:v>
                </c:pt>
                <c:pt idx="1">
                  <c:v>E85</c:v>
                </c:pt>
                <c:pt idx="2">
                  <c:v>LPG</c:v>
                </c:pt>
                <c:pt idx="3">
                  <c:v>Biodiesel</c:v>
                </c:pt>
                <c:pt idx="4">
                  <c:v>CNG</c:v>
                </c:pt>
                <c:pt idx="5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85733</c:v>
                </c:pt>
                <c:pt idx="1">
                  <c:v>5173</c:v>
                </c:pt>
                <c:pt idx="2">
                  <c:v>3008</c:v>
                </c:pt>
                <c:pt idx="3">
                  <c:v>1882</c:v>
                </c:pt>
                <c:pt idx="4">
                  <c:v>1391</c:v>
                </c:pt>
                <c:pt idx="5">
                  <c:v>1456</c:v>
                </c:pt>
              </c:numCache>
            </c:numRef>
          </c:val>
        </c:ser>
        <c:gapWidth val="219"/>
        <c:overlap val="-27"/>
        <c:axId val="5979936"/>
        <c:axId val="14753803"/>
      </c:barChart>
      <c:catAx>
        <c:axId val="59799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14753803"/>
        <c:crosses val="autoZero"/>
        <c:auto val="1"/>
        <c:lblAlgn val="ctr"/>
        <c:lblOffset val="100"/>
        <c:noMultiLvlLbl val="0"/>
      </c:catAx>
      <c:valAx>
        <c:axId val="1475380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597993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00bac8"/>
            </a:solidFill>
            <a:ln w="19080">
              <a:solidFill>
                <a:srgbClr val="ffffff"/>
              </a:solidFill>
              <a:round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Bierstad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ffffff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Gas</c:v>
                </c:pt>
                <c:pt idx="1">
                  <c:v>Diesel</c:v>
                </c:pt>
                <c:pt idx="2">
                  <c:v>Bifuel</c:v>
                </c:pt>
                <c:pt idx="3">
                  <c:v>Hybrid</c:v>
                </c:pt>
                <c:pt idx="4">
                  <c:v>CNG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544356</c:v>
                </c:pt>
                <c:pt idx="1">
                  <c:v>23694</c:v>
                </c:pt>
                <c:pt idx="2">
                  <c:v>12557</c:v>
                </c:pt>
                <c:pt idx="3">
                  <c:v>9117</c:v>
                </c:pt>
                <c:pt idx="4">
                  <c:v>126</c:v>
                </c:pt>
              </c:numCache>
            </c:numRef>
          </c:val>
        </c:ser>
        <c:gapWidth val="150"/>
        <c:overlap val="0"/>
        <c:axId val="36753963"/>
        <c:axId val="51436812"/>
      </c:barChart>
      <c:catAx>
        <c:axId val="3675396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51436812"/>
        <c:crosses val="autoZero"/>
        <c:auto val="1"/>
        <c:lblAlgn val="ctr"/>
        <c:lblOffset val="100"/>
        <c:noMultiLvlLbl val="0"/>
      </c:catAx>
      <c:valAx>
        <c:axId val="51436812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Bierstadt"/>
              </a:defRPr>
            </a:pPr>
          </a:p>
        </c:txPr>
        <c:crossAx val="3675396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A67A92-8550-49FB-AD0B-530F65D5D65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DB5BAD-F982-4380-98C4-BFD286DC12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62880" cy="121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21280" y="2340720"/>
            <a:ext cx="5164560" cy="6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521280" y="3035880"/>
            <a:ext cx="5164560" cy="33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519600" y="2340720"/>
            <a:ext cx="5164560" cy="6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519600" y="3035880"/>
            <a:ext cx="5164560" cy="33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dt" idx="1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ftr" idx="2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sldNum" idx="3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A078D1-9DE1-41FB-8C16-899A8ECA0AD2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1115388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82D672-0784-4198-91A7-171FCF66D80E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dt" idx="7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8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9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FE92CA-ABEF-4ABE-A5DF-F46515206E1B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8400" cy="24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519600" y="987480"/>
            <a:ext cx="5164560" cy="53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21280" y="3575160"/>
            <a:ext cx="5018400" cy="276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0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1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2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4837A5-B959-456B-B2E1-BDA6DFED1068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8400" cy="24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519600" y="987480"/>
            <a:ext cx="5164560" cy="535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21280" y="3575160"/>
            <a:ext cx="5018400" cy="276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3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4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5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2FC11E-37F0-4F51-8F81-704163BD6E01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6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3880" cy="43920"/>
          </a:xfrm>
          <a:custGeom>
            <a:avLst/>
            <a:gdLst>
              <a:gd name="textAreaLeft" fmla="*/ 0 w 11153880"/>
              <a:gd name="textAreaRight" fmla="*/ 11155680 w 11153880"/>
              <a:gd name="textAreaTop" fmla="*/ 0 h 43920"/>
              <a:gd name="textAreaBottom" fmla="*/ 45720 h 43920"/>
              <a:gd name="GluePoint1X" fmla="*/ 0 w 8715708"/>
              <a:gd name="GluePoint1Y" fmla="*/ 0 h 45719"/>
              <a:gd name="GluePoint2X" fmla="*/ 3694525 w 8715708"/>
              <a:gd name="GluePoint2Y" fmla="*/ 0 h 45719"/>
              <a:gd name="GluePoint3X" fmla="*/ 5021183 w 8715708"/>
              <a:gd name="GluePoint3Y" fmla="*/ 0 h 45719"/>
              <a:gd name="GluePoint4X" fmla="*/ 8715708 w 8715708"/>
              <a:gd name="GluePoint4Y" fmla="*/ 0 h 45719"/>
              <a:gd name="GluePoint5X" fmla="*/ 8715708 w 8715708"/>
              <a:gd name="GluePoint5Y" fmla="*/ 45719 h 45719"/>
              <a:gd name="GluePoint6X" fmla="*/ 5021183 w 8715708"/>
              <a:gd name="GluePoint6Y" fmla="*/ 45719 h 45719"/>
              <a:gd name="GluePoint7X" fmla="*/ 3694525 w 8715708"/>
              <a:gd name="GluePoint7Y" fmla="*/ 45719 h 45719"/>
              <a:gd name="GluePoint8X" fmla="*/ 0 w 8715708"/>
              <a:gd name="GluePoint8Y" fmla="*/ 45719 h 457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342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6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7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8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C52382-F794-42CA-839D-CE46AAE33BEA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1115388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9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0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1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E8CF0A-C2F4-4ED2-A866-7D245834D3D3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659440" y="978480"/>
            <a:ext cx="2549520" cy="53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21280" y="978480"/>
            <a:ext cx="8008200" cy="53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3ECF5A-70D1-446C-A2A2-CF9FD16B061C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Rectangle 6"/>
          <p:cNvSpPr/>
          <p:nvPr/>
        </p:nvSpPr>
        <p:spPr>
          <a:xfrm rot="5400000">
            <a:off x="8938080" y="3584880"/>
            <a:ext cx="5324040" cy="14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1115388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5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26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27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F55BB4-7000-45AE-9A42-8AAFF19E537B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28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9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0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514C42-C402-455D-8BCE-F7F7A3916340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8400" cy="428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21280" y="5266800"/>
            <a:ext cx="5018400" cy="108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1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32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33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1E1FA4-DE90-4627-A336-69B5A5F87B79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518040" y="507960"/>
            <a:ext cx="5019480" cy="14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1360" cy="147600"/>
          </a:xfrm>
          <a:custGeom>
            <a:avLst/>
            <a:gdLst>
              <a:gd name="textAreaLeft" fmla="*/ 0 w 11151360"/>
              <a:gd name="textAreaRight" fmla="*/ 11153160 w 11151360"/>
              <a:gd name="textAreaTop" fmla="*/ 0 h 147600"/>
              <a:gd name="textAreaBottom" fmla="*/ 149400 h 14760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516456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519600" y="2578680"/>
            <a:ext cx="516456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4"/>
          </p:nvPr>
        </p:nvSpPr>
        <p:spPr>
          <a:xfrm>
            <a:off x="521280" y="641916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5"/>
          </p:nvPr>
        </p:nvSpPr>
        <p:spPr>
          <a:xfrm>
            <a:off x="521280" y="10044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6"/>
          </p:nvPr>
        </p:nvSpPr>
        <p:spPr>
          <a:xfrm>
            <a:off x="11457360" y="6419160"/>
            <a:ext cx="638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4D1E10-3114-4252-B473-BF665DB0A45A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Bierstadt"/>
            </a:endParaRPr>
          </a:p>
        </p:txBody>
      </p:sp>
      <p:pic>
        <p:nvPicPr>
          <p:cNvPr id="88" name="Picture 3" descr="A close-up of a green and blue background&#10;&#10;AI-generated content may be incorrect."/>
          <p:cNvPicPr/>
          <p:nvPr/>
        </p:nvPicPr>
        <p:blipFill>
          <a:blip r:embed="rId1"/>
          <a:srcRect l="0" t="6249" r="0" b="0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171360" y="171360"/>
            <a:ext cx="6856200" cy="65098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26000">
                <a:srgbClr val="000000">
                  <a:alpha val="7000"/>
                </a:srgbClr>
              </a:gs>
              <a:gs pos="46000">
                <a:srgbClr val="000000">
                  <a:alpha val="20000"/>
                </a:srgbClr>
              </a:gs>
              <a:gs pos="100000">
                <a:srgbClr val="000000">
                  <a:alpha val="3500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38840" y="978480"/>
            <a:ext cx="5732280" cy="382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600" b="1" u="none" strike="noStrike">
                <a:solidFill>
                  <a:schemeClr val="lt1"/>
                </a:solidFill>
                <a:effectLst/>
                <a:uFillTx/>
                <a:latin typeface="Bierstadt"/>
              </a:rPr>
              <a:t>Automotive Industry Data Pipeline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438840" y="4948200"/>
            <a:ext cx="893340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 Engineer Technical Assessment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US Government Datasets  |  4 Analysis Questions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4694040" cy="14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Sources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609480" y="1838520"/>
            <a:ext cx="11065680" cy="151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609480" y="1838520"/>
            <a:ext cx="185040" cy="15141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609480" y="3472560"/>
            <a:ext cx="11065680" cy="151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609480" y="3472560"/>
            <a:ext cx="185040" cy="15141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609480" y="5121720"/>
            <a:ext cx="11065680" cy="151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09480" y="5121720"/>
            <a:ext cx="185040" cy="15141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21160" y="1865160"/>
            <a:ext cx="10680840" cy="14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 NHTSA Source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Vehicle safety complaints since 1995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Reasoning: API works per make/model/year – to get full data we would need  thousands of API calls – the flat file gets everything all in one download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8327880" y="1874160"/>
            <a:ext cx="317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Flat file download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8303400" y="2115000"/>
            <a:ext cx="31986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Tab-delimited TXT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ontent Placeholder 2"/>
          <p:cNvSpPr/>
          <p:nvPr/>
        </p:nvSpPr>
        <p:spPr>
          <a:xfrm>
            <a:off x="821160" y="3468240"/>
            <a:ext cx="10854000" cy="14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 AFDC Source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Alternative fuel station locations (US-wide)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Reasoning: A pipeline that runs on a schedule can not fill web forms present on the website – so best choice was API for the programmatic approach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8327880" y="3452040"/>
            <a:ext cx="317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NREL Developer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8303400" y="3695760"/>
            <a:ext cx="31986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ontent Placeholder 2"/>
          <p:cNvSpPr/>
          <p:nvPr/>
        </p:nvSpPr>
        <p:spPr>
          <a:xfrm>
            <a:off x="821160" y="5121720"/>
            <a:ext cx="10854000" cy="14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 EPA Source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Vehicle fuel economy data from 1984 till present.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Reasoning: Same approach as NHTSA – one HTTP call for full dataset. No point in looping through individual vehicles or years.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8327880" y="5222520"/>
            <a:ext cx="317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CSV zip download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8303400" y="5457600"/>
            <a:ext cx="319860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1531800" y="2175480"/>
            <a:ext cx="10284840" cy="14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Acquisition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Downloads 3 datasets from US government sources – NHTSA complaints (flat file), AFDC fuel stations (API) and EPA fuel economy (CSV)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Saves everything and date-logs the folder – so each run is preserved separately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Validates HTTP responses, skips if today’s date data already exists &amp; logs “OK” / “FAILED” per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521280" y="2173680"/>
            <a:ext cx="1008720" cy="13377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1" name="Image 0"/>
          <p:cNvPicPr/>
          <p:nvPr/>
        </p:nvPicPr>
        <p:blipFill>
          <a:blip r:embed="rId1"/>
          <a:stretch/>
        </p:blipFill>
        <p:spPr>
          <a:xfrm>
            <a:off x="661320" y="2226960"/>
            <a:ext cx="739080" cy="73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4"/>
          <p:cNvSpPr/>
          <p:nvPr/>
        </p:nvSpPr>
        <p:spPr>
          <a:xfrm>
            <a:off x="521280" y="3051720"/>
            <a:ext cx="10087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21280" y="4087440"/>
            <a:ext cx="1008720" cy="13377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Python Script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ontent Placeholder 2"/>
          <p:cNvSpPr/>
          <p:nvPr/>
        </p:nvSpPr>
        <p:spPr>
          <a:xfrm>
            <a:off x="1596600" y="4087440"/>
            <a:ext cx="10072440" cy="14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Processing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Takes the raw files and cleans them – reducing 209 columns down to 33 that are relevant for our analysis.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Handles missing value, bad data, type issues and filter for records that we actually need.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EPA records: 49,806 rows (0 % loss) / NHTSA: 2.1M &gt; 2.09M rows (4% loss) / AFDC: 98K &gt; 96K rows (2% loss)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1"/>
          <p:cNvPicPr/>
          <p:nvPr/>
        </p:nvPicPr>
        <p:blipFill>
          <a:blip r:embed="rId2"/>
          <a:stretch/>
        </p:blipFill>
        <p:spPr>
          <a:xfrm>
            <a:off x="611640" y="4143960"/>
            <a:ext cx="789120" cy="78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4"/>
          <p:cNvSpPr/>
          <p:nvPr/>
        </p:nvSpPr>
        <p:spPr>
          <a:xfrm>
            <a:off x="525960" y="4934520"/>
            <a:ext cx="10087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/>
          </p:nvPr>
        </p:nvSpPr>
        <p:spPr>
          <a:xfrm>
            <a:off x="1531800" y="2175480"/>
            <a:ext cx="10284840" cy="14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Transformation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Answers the 4 analysis questions by grouping and aggregating the cleaned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Produces one focused output file per question.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Outputs: ‘complaints by cylinders’, ‘vehicle type shift by year’, ‘fuel station growth’ &amp; ‘complaints by fuel type’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521280" y="2173680"/>
            <a:ext cx="1008720" cy="13377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521280" y="3051720"/>
            <a:ext cx="10087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521280" y="4087440"/>
            <a:ext cx="1008720" cy="13377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Python Scripts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ontent Placeholder 2"/>
          <p:cNvSpPr/>
          <p:nvPr/>
        </p:nvSpPr>
        <p:spPr>
          <a:xfrm>
            <a:off x="1596600" y="4087440"/>
            <a:ext cx="10072440" cy="14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7500" lnSpcReduction="1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Loading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Simulates loading the transformed data into Azure SQL Database and Databricks Data Lake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Uses ‘SIMULATION’ flag – the real commands are visible in comments and the scripts runs without credentials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Loads 4 tables for each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525960" y="4934520"/>
            <a:ext cx="10087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2"/>
          <p:cNvPicPr/>
          <p:nvPr/>
        </p:nvPicPr>
        <p:blipFill>
          <a:blip r:embed="rId1"/>
          <a:stretch/>
        </p:blipFill>
        <p:spPr>
          <a:xfrm>
            <a:off x="628920" y="2256480"/>
            <a:ext cx="793440" cy="79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3"/>
          <p:cNvPicPr/>
          <p:nvPr/>
        </p:nvPicPr>
        <p:blipFill>
          <a:blip r:embed="rId2"/>
          <a:stretch/>
        </p:blipFill>
        <p:spPr>
          <a:xfrm>
            <a:off x="648360" y="4159080"/>
            <a:ext cx="774000" cy="77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How to Run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03720" y="1935360"/>
            <a:ext cx="5608440" cy="4247280"/>
          </a:xfrm>
          <a:prstGeom prst="rect">
            <a:avLst/>
          </a:prstGeom>
          <a:solidFill>
            <a:srgbClr val="0f1b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86600" y="2026800"/>
            <a:ext cx="5425560" cy="40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git clone https://github.com/CYPHRN/repo.git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cd data-engineer-assessment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python -m venv venv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source venv/bin/activate    # Linux/Mac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venv\Scripts\activate       # Windows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pip install -r requirements.txt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# Create .env file: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NREL_API_KEY=your_key_here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# Run in order: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python scripts/01_data_acquisition.py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python scripts/02_data_processing.py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python scripts/03_data_transformation.py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python scripts/04_data_loading.py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391080" y="1935360"/>
            <a:ext cx="5425560" cy="42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Notes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Free API key from developer.nrel.gov/signup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Scripts must run in order (each depends on the previous output)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run in the same day – will skip downloads automatically (unless date folder is deleted)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Full pipeline takes about 5 minutes and requires at least good powered device (Testing with VM had issues since NHTSA dataset has 2.1M rows)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Azure connection strings are needed only if SIMULATION flag is ‘False’ (Script 04)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525960" y="180396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I picked 4 questions that the 3 datasets can answer together – to understand industry trends that matter for investment &amp; component decision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Analysis Questions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521280" y="2372040"/>
            <a:ext cx="11000520" cy="74808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21280" y="2372040"/>
            <a:ext cx="76680" cy="748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795600" y="2417760"/>
            <a:ext cx="65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Q1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252800" y="2417760"/>
            <a:ext cx="7202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Bierstadt (Body)"/>
                <a:ea typeface="Calibri"/>
              </a:rPr>
              <a:t>Do vehicles with more cylinders have more complaints?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252800" y="267372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Bierstadt (Body)"/>
                <a:ea typeface="Calibri"/>
              </a:rPr>
              <a:t>Method: NHTSA groupby NUM_CYLS &gt; count &amp; Filtered outliers &gt; 16 cylinder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1252800" y="287496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d97706"/>
                </a:solidFill>
                <a:effectLst/>
                <a:uFillTx/>
                <a:latin typeface="Bierstadt (Body)"/>
                <a:ea typeface="Calibri"/>
              </a:rPr>
              <a:t>Additional Info: 79% of complaints had no cylinder data. Based on ~450K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21280" y="3240720"/>
            <a:ext cx="11000520" cy="74808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521280" y="3240720"/>
            <a:ext cx="76680" cy="748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795600" y="3286440"/>
            <a:ext cx="65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Q2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1252800" y="3286440"/>
            <a:ext cx="7202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Bierstadt (Body)"/>
                <a:ea typeface="Calibri"/>
              </a:rPr>
              <a:t>Is there a visible shift from ICE to hybrid/electric?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252800" y="354240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Bierstadt (Body)"/>
                <a:ea typeface="Calibri"/>
              </a:rPr>
              <a:t>Method: EPA groupby [year, atvType] &gt; count models per type per year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252800" y="374364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d97706"/>
                </a:solidFill>
                <a:effectLst/>
                <a:uFillTx/>
                <a:latin typeface="Bierstadt (Body)"/>
                <a:ea typeface="Calibri"/>
              </a:rPr>
              <a:t>Additional Info: atvType NaN filled with 'Standard'. Data covers 1984-2026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521280" y="4109400"/>
            <a:ext cx="11000520" cy="74808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521280" y="4109400"/>
            <a:ext cx="76680" cy="748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795600" y="4155120"/>
            <a:ext cx="65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Q3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1252800" y="4155120"/>
            <a:ext cx="7202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Bierstadt (Body)"/>
                <a:ea typeface="Calibri"/>
              </a:rPr>
              <a:t>What alternative fuel types are growing fastest?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1252800" y="441108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Bierstadt (Body)"/>
                <a:ea typeface="Calibri"/>
              </a:rPr>
              <a:t>Method: AFDC: extract year from open_date &gt; groupby [year, fuel_type_code] &gt; count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252800" y="461232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d97706"/>
                </a:solidFill>
                <a:effectLst/>
                <a:uFillTx/>
                <a:latin typeface="Bierstadt (Body)"/>
                <a:ea typeface="Calibri"/>
              </a:rPr>
              <a:t>Additional Info: Had to re-parse open_date because CSV lost the datetime type from Script 02 (In Production we would save files to Parquet format)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521280" y="4978080"/>
            <a:ext cx="11000520" cy="748080"/>
          </a:xfrm>
          <a:prstGeom prst="rect">
            <a:avLst/>
          </a:prstGeom>
          <a:solidFill>
            <a:srgbClr val="0f1b2d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52" name="Shape 21"/>
          <p:cNvSpPr/>
          <p:nvPr/>
        </p:nvSpPr>
        <p:spPr>
          <a:xfrm>
            <a:off x="521280" y="4978080"/>
            <a:ext cx="76680" cy="7480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795600" y="5023800"/>
            <a:ext cx="65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d9488"/>
                </a:solidFill>
                <a:effectLst/>
                <a:uFillTx/>
                <a:latin typeface="Trebuchet MS"/>
                <a:ea typeface="Trebuchet MS"/>
              </a:rPr>
              <a:t>Q4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1252800" y="5023800"/>
            <a:ext cx="7202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Bierstadt (Body)"/>
                <a:ea typeface="Calibri"/>
              </a:rPr>
              <a:t>How do complaint rates differ by fuel type?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1252800" y="527976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Bierstadt (Body)"/>
                <a:ea typeface="Calibri"/>
              </a:rPr>
              <a:t>Method: NHTSA groupby FUEL_TYPE &gt; count complaints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1252800" y="5481000"/>
            <a:ext cx="9690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d97706"/>
                </a:solidFill>
                <a:effectLst/>
                <a:uFillTx/>
                <a:latin typeface="Bierstadt (Body)"/>
                <a:ea typeface="Calibri"/>
              </a:rPr>
              <a:t>Additional Info: 73% of complaints had no fuel type. Based on ~600K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525960" y="180396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209 columns reduced to 33 relevant ones – each decision was driven by the 4 analysis questions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Processing Decisions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le 0"/>
          <p:cNvGraphicFramePr/>
          <p:nvPr/>
        </p:nvGraphicFramePr>
        <p:xfrm>
          <a:off x="1036440" y="2274480"/>
          <a:ext cx="9271800" cy="1428840"/>
        </p:xfrm>
        <a:graphic>
          <a:graphicData uri="http://schemas.openxmlformats.org/drawingml/2006/table">
            <a:tbl>
              <a:tblPr/>
              <a:tblGrid>
                <a:gridCol w="1103760"/>
                <a:gridCol w="1324440"/>
                <a:gridCol w="1324440"/>
                <a:gridCol w="772560"/>
                <a:gridCol w="4746960"/>
              </a:tblGrid>
              <a:tr h="340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Dataset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Before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After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Lost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Columns Kept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6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EPA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49,806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49,806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make, model, year, cylinders, fuelType, atvType, MPG, CO2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NHTSA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2,183,056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2,096,897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~4%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make, model, year, severity, component, fuel type, cylinders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2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AFDC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98,643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96,511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~2%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Bierstadt (Body)"/>
                          <a:ea typeface="Calibri"/>
                        </a:rPr>
                        <a:t>fuel type, station name, city, state, open date, status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Shape 2"/>
          <p:cNvSpPr/>
          <p:nvPr/>
        </p:nvSpPr>
        <p:spPr>
          <a:xfrm>
            <a:off x="1034640" y="3840480"/>
            <a:ext cx="455076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1127880" y="3867840"/>
            <a:ext cx="43340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NHTSA had no column headers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1127880" y="4096440"/>
            <a:ext cx="433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First row was being read as column names – research was needed to find the schema file and applied 49 columns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1036440" y="4590360"/>
            <a:ext cx="455076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127880" y="4617720"/>
            <a:ext cx="43340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NHTSA year = 9999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1127880" y="4846320"/>
            <a:ext cx="433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Means 'unknown' in their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Removed because year-based analysis needs real years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1036440" y="5340240"/>
            <a:ext cx="455076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1127880" y="5367600"/>
            <a:ext cx="43340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FUEL_TYPE had blank spaces, not proper nulls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1127880" y="5596200"/>
            <a:ext cx="433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Replaced ' ' with NaN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Did NOT drop these rows (73% would be lost) - kept them for future analyses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5974200" y="3867840"/>
            <a:ext cx="433404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6089040" y="3895200"/>
            <a:ext cx="41274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EPA atvType was NaN for 43K of 49K rows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6089040" y="4123800"/>
            <a:ext cx="412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NaN means 'standard ICE vehicle', not 'missing data’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Filled with 'Standard' label so groupby works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5974200" y="4617720"/>
            <a:ext cx="433404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6089040" y="4645080"/>
            <a:ext cx="41274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Had to filter PROD_TYPE before dropping columns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6089040" y="4873680"/>
            <a:ext cx="421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Filtered for vehicles before dropping columns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Because PROD_TYPE gets dropped but we need to filter out tires / child seats first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5974200" y="5367600"/>
            <a:ext cx="4334040" cy="65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6089040" y="5394960"/>
            <a:ext cx="41274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dropna only on critical columns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6089040" y="5623560"/>
            <a:ext cx="412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Did NOT drop rows missing cylinders (would lose EVs) or FUEL_TYPE (would lose 73% of data)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Only dropped where make/model/year are missing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525960" y="180396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The NHTSA dataset was the most problematic – below are the issues encountered.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Challenges: Working with NHTSA Dataset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853560" y="233172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963000" y="242316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3"/>
          <p:cNvSpPr/>
          <p:nvPr/>
        </p:nvSpPr>
        <p:spPr>
          <a:xfrm>
            <a:off x="1354320" y="243828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No HEADER row in the 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963000" y="2694600"/>
            <a:ext cx="489168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Pandas read the first complaint (ex ‘1987 Volvo 760’) as column names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Every column was named after data values instead of field 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Had to find the schema documentation (CMPL.txt) at the NHTSA website and applied 49 column names manually using `Pandas header=None` &amp; `names=[...]` parameters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853560" y="388188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2"/>
          <a:stretch/>
        </p:blipFill>
        <p:spPr>
          <a:xfrm>
            <a:off x="963000" y="397332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3"/>
          <p:cNvSpPr/>
          <p:nvPr/>
        </p:nvSpPr>
        <p:spPr>
          <a:xfrm>
            <a:off x="1354320" y="398880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Bad rows crashing during parsing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963000" y="4321080"/>
            <a:ext cx="4891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Error: ‘Expected 49 fields, saw 70’ – some complaint text description had tab characters inside which Pandas interpreted as column separators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This created more columns than intended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This was fixed with parameter `on_bad_lines=skip`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Out of 2.1M rows – a few hundred were lost (which is acceptable from a DE standpoint)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853560" y="543240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189" name="Image 0" descr="preencoded.png"/>
          <p:cNvPicPr/>
          <p:nvPr/>
        </p:nvPicPr>
        <p:blipFill>
          <a:blip r:embed="rId3"/>
          <a:stretch/>
        </p:blipFill>
        <p:spPr>
          <a:xfrm>
            <a:off x="963000" y="552384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3"/>
          <p:cNvSpPr/>
          <p:nvPr/>
        </p:nvSpPr>
        <p:spPr>
          <a:xfrm>
            <a:off x="1354320" y="553896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Encoding Issue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963000" y="5871240"/>
            <a:ext cx="4891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Default UTF-8 encoding crashed on special characters when parsing complaint descriptions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Switched to `encoding=‘latin-1’` which handles the extended character set in the NHTSA dataset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Without this we would get the following error `UnicodeDecodeError`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324480" y="233676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4"/>
          <a:stretch/>
        </p:blipFill>
        <p:spPr>
          <a:xfrm>
            <a:off x="6434280" y="242316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3"/>
          <p:cNvSpPr/>
          <p:nvPr/>
        </p:nvSpPr>
        <p:spPr>
          <a:xfrm>
            <a:off x="6825240" y="243828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Mixed data 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6434280" y="2770560"/>
            <a:ext cx="4891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`DTypeWarning` on multiple columns because some had both numbers &amp; text data types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Pandas read in chunks by default and each chunk might see different types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Fixed with `low_memory=False` which reads the entire file at once to determine data types consistently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6324480" y="388188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197" name="Image 0" descr="preencoded.png"/>
          <p:cNvPicPr/>
          <p:nvPr/>
        </p:nvPicPr>
        <p:blipFill>
          <a:blip r:embed="rId5"/>
          <a:stretch/>
        </p:blipFill>
        <p:spPr>
          <a:xfrm>
            <a:off x="6434280" y="396828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3"/>
          <p:cNvSpPr/>
          <p:nvPr/>
        </p:nvSpPr>
        <p:spPr>
          <a:xfrm>
            <a:off x="6825240" y="398376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73% of records have no fuel type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6434280" y="4315680"/>
            <a:ext cx="4891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The `FUEL_TYPE` and `NUM_CYLS` fields were added to complaint form in 2007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Older complaints and many newer ones were filled without info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1.5M complaints have no fuel type &amp; 1.7M have no cylinder count – rows were kept for other analyses, but this is a limitation for our research 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6324480" y="5427360"/>
            <a:ext cx="5012280" cy="135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6"/>
          <a:stretch/>
        </p:blipFill>
        <p:spPr>
          <a:xfrm>
            <a:off x="6434280" y="5513400"/>
            <a:ext cx="2793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3"/>
          <p:cNvSpPr/>
          <p:nvPr/>
        </p:nvSpPr>
        <p:spPr>
          <a:xfrm>
            <a:off x="6825240" y="5528880"/>
            <a:ext cx="2832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Impossible cylinder values: 66, 88 &amp; 99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6434280" y="5861160"/>
            <a:ext cx="4891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The cylinder field contained values that do not exist in any real vehicle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These are clearly data entry errors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Filtered out everything above 16 cylinders (which is the maximum in the world)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Bierstadt (Body)"/>
              </a:rPr>
              <a:t>This is a specific outlier handling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1"/>
          <p:cNvSpPr/>
          <p:nvPr/>
        </p:nvSpPr>
        <p:spPr>
          <a:xfrm>
            <a:off x="482040" y="4350240"/>
            <a:ext cx="5415840" cy="2295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Key Findings –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521280" y="1802880"/>
            <a:ext cx="5415840" cy="2295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21280" y="1802880"/>
            <a:ext cx="5415840" cy="3186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08" name="Shape 1"/>
          <p:cNvSpPr/>
          <p:nvPr/>
        </p:nvSpPr>
        <p:spPr>
          <a:xfrm>
            <a:off x="6268320" y="1796040"/>
            <a:ext cx="5415840" cy="2295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6258240" y="1802880"/>
            <a:ext cx="5415840" cy="3186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471960" y="4350240"/>
            <a:ext cx="5415840" cy="3186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25960" y="1803960"/>
            <a:ext cx="540576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Q1: Complaints by Cylinder Count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Content Placeholder 2"/>
          <p:cNvSpPr/>
          <p:nvPr/>
        </p:nvSpPr>
        <p:spPr>
          <a:xfrm>
            <a:off x="6253200" y="1796040"/>
            <a:ext cx="540576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Q2: Vehicle Type Shift (2024 – 2026)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Content Placeholder 2"/>
          <p:cNvSpPr/>
          <p:nvPr/>
        </p:nvSpPr>
        <p:spPr>
          <a:xfrm>
            <a:off x="457200" y="4343400"/>
            <a:ext cx="540576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Q3: Fuel Station Distribution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4" name="Chart 47"/>
          <p:cNvGraphicFramePr/>
          <p:nvPr/>
        </p:nvGraphicFramePr>
        <p:xfrm>
          <a:off x="486720" y="2135520"/>
          <a:ext cx="5415840" cy="1979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5" name="Chart 50"/>
          <p:cNvGraphicFramePr/>
          <p:nvPr/>
        </p:nvGraphicFramePr>
        <p:xfrm>
          <a:off x="6263280" y="2136600"/>
          <a:ext cx="5385960" cy="195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61"/>
          <p:cNvGraphicFramePr/>
          <p:nvPr/>
        </p:nvGraphicFramePr>
        <p:xfrm>
          <a:off x="466920" y="4684320"/>
          <a:ext cx="5405760" cy="196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7" name="Shape 4"/>
          <p:cNvSpPr/>
          <p:nvPr/>
        </p:nvSpPr>
        <p:spPr>
          <a:xfrm>
            <a:off x="6241680" y="4343400"/>
            <a:ext cx="5415840" cy="2295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6241680" y="4343400"/>
            <a:ext cx="5415840" cy="3186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9" name="Content Placeholder 1"/>
          <p:cNvSpPr/>
          <p:nvPr/>
        </p:nvSpPr>
        <p:spPr>
          <a:xfrm>
            <a:off x="6236640" y="4343400"/>
            <a:ext cx="540576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Q4: Complaint by Fuel Type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Chart 53"/>
          <p:cNvGraphicFramePr/>
          <p:nvPr/>
        </p:nvGraphicFramePr>
        <p:xfrm>
          <a:off x="6226920" y="4659120"/>
          <a:ext cx="5405760" cy="1979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"/>
          <p:cNvSpPr/>
          <p:nvPr/>
        </p:nvSpPr>
        <p:spPr>
          <a:xfrm>
            <a:off x="609840" y="5195520"/>
            <a:ext cx="1115532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609840" y="3653640"/>
            <a:ext cx="1115532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/>
          </p:nvPr>
        </p:nvSpPr>
        <p:spPr>
          <a:xfrm>
            <a:off x="525960" y="172512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Below are findings comparing the final data – trying to answer our analysis questions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Key Findings – Findings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609840" y="2112840"/>
            <a:ext cx="1115532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609840" y="2112840"/>
            <a:ext cx="81720" cy="1444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929880" y="2167560"/>
            <a:ext cx="16653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d97706"/>
                </a:solidFill>
                <a:effectLst/>
                <a:uFillTx/>
                <a:latin typeface="Bierstadt (Body)"/>
                <a:ea typeface="Calibri"/>
              </a:rPr>
              <a:t>IMPORTANT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29880" y="2341440"/>
            <a:ext cx="108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These are raw counts - not defect rates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29880" y="2588400"/>
            <a:ext cx="10680480" cy="73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6-cylinder vehicles have 219K complaints because there are more of them on the road, not because they are worse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Gas has 544K complaints vs 9K for hybrids because gas vehicles massively outnumber hybrids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To get real defect rates you would need vehicle registration data to divide complaints by vehicles in operation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That data is not available in these sources -  this is a limitation and it changes how results should be interpreted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609840" y="365976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929880" y="3745440"/>
            <a:ext cx="16653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d9488"/>
                </a:solidFill>
                <a:effectLst/>
                <a:uFillTx/>
                <a:latin typeface="Bierstadt (Body)"/>
                <a:ea typeface="Calibri"/>
              </a:rPr>
              <a:t>FINDING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929880" y="3923280"/>
            <a:ext cx="108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The shift to electric is real and accelerating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929880" y="4206960"/>
            <a:ext cx="1083528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EPA data shows clear year-over-year growth in EV and Hybrid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AFDC shows 87% of all alternative fuel stations are electric chargers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The infrastructure and the vehicle models are both moving in the same direction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This matters for an automotive supplier making decisions about which components to manufacture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609840" y="519552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929880" y="5285520"/>
            <a:ext cx="16653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d9488"/>
                </a:solidFill>
                <a:effectLst/>
                <a:uFillTx/>
                <a:latin typeface="Bierstadt (Body)"/>
                <a:ea typeface="Calibri"/>
              </a:rPr>
              <a:t>FINDING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929880" y="5459400"/>
            <a:ext cx="108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Data quality is a real constraint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929880" y="5706000"/>
            <a:ext cx="10835280" cy="8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73% of NHTSA complaints have no fuel 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79% have no cylinder count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The cylinder field had impossible values (66, 88, 99)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Year 9999 means unknown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All of this had to be identified, understood, and handled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/>
          </p:nvPr>
        </p:nvSpPr>
        <p:spPr>
          <a:xfrm>
            <a:off x="525960" y="172512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Simulated loading to two targets – Azure SQL Database and Databricks Delta Lake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Data Loading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609840" y="231876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49160" y="243288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Azure SQL Database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595800" y="230148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749520" y="2769120"/>
            <a:ext cx="45777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6279840" y="231228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45" name="Text 26"/>
          <p:cNvSpPr/>
          <p:nvPr/>
        </p:nvSpPr>
        <p:spPr>
          <a:xfrm>
            <a:off x="6419160" y="242640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Databricks Delta Lake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7"/>
          <p:cNvSpPr/>
          <p:nvPr/>
        </p:nvSpPr>
        <p:spPr>
          <a:xfrm>
            <a:off x="6419160" y="2762640"/>
            <a:ext cx="45777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6265800" y="229500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6419520" y="242640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9"/>
          <p:cNvSpPr/>
          <p:nvPr/>
        </p:nvSpPr>
        <p:spPr>
          <a:xfrm>
            <a:off x="6419520" y="2762640"/>
            <a:ext cx="45777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749880" y="2769120"/>
            <a:ext cx="45777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7"/>
          <p:cNvSpPr/>
          <p:nvPr/>
        </p:nvSpPr>
        <p:spPr>
          <a:xfrm>
            <a:off x="763560" y="2672640"/>
            <a:ext cx="507996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Tool: SQLAlchemy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For: SQL Queries &amp; Power BI Dashboards (Business Intelligence)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Credentials: Connection String from .env (Key Vault in Production)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7"/>
          <p:cNvSpPr/>
          <p:nvPr/>
        </p:nvSpPr>
        <p:spPr>
          <a:xfrm>
            <a:off x="6439320" y="2500920"/>
            <a:ext cx="507996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7"/>
          <p:cNvSpPr/>
          <p:nvPr/>
        </p:nvSpPr>
        <p:spPr>
          <a:xfrm>
            <a:off x="6428880" y="2534040"/>
            <a:ext cx="507996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Tool: PySpark &amp; Delta format writer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For: Data science notebooks &amp; versioned storage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"/>
          <p:cNvSpPr/>
          <p:nvPr/>
        </p:nvSpPr>
        <p:spPr>
          <a:xfrm>
            <a:off x="3406680" y="3888720"/>
            <a:ext cx="5377680" cy="132156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3406680" y="388872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3596760" y="3912840"/>
            <a:ext cx="24980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Why two targets?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3555360" y="4191120"/>
            <a:ext cx="50799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Azure SQL for analysts who write queries and builds dashboards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Delta Lake for data scientists who work in notebooks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Same data for different consumers – 4 tables loaded for each target.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"/>
          <p:cNvSpPr/>
          <p:nvPr/>
        </p:nvSpPr>
        <p:spPr>
          <a:xfrm>
            <a:off x="322560" y="4160160"/>
            <a:ext cx="250740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/>
          </p:nvPr>
        </p:nvSpPr>
        <p:spPr>
          <a:xfrm>
            <a:off x="525960" y="172512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Below is how I would schedule an automation for this pipeline in Azure Data Factory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Automation Strategy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609840" y="211284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749160" y="222696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Why Azure Data Factory?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749160" y="2563200"/>
            <a:ext cx="45777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Native integration with Azure SQL Database &amp; Databricks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Will tackle scheduling, retry policies &amp; email alerting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8"/>
          <p:cNvSpPr/>
          <p:nvPr/>
        </p:nvSpPr>
        <p:spPr>
          <a:xfrm>
            <a:off x="322560" y="416016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21640" y="4228560"/>
            <a:ext cx="130644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Extract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8"/>
          <p:cNvSpPr/>
          <p:nvPr/>
        </p:nvSpPr>
        <p:spPr>
          <a:xfrm>
            <a:off x="595800" y="209556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6188400" y="2105640"/>
            <a:ext cx="5377680" cy="132156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6464160" y="222696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Schedule - Weekly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6464160" y="2563200"/>
            <a:ext cx="484956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NHTSA – updates daily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EPA – updated annually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AFDC – ongoing updates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A weekly schedule balances both data freshness against compute cost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8"/>
          <p:cNvSpPr/>
          <p:nvPr/>
        </p:nvSpPr>
        <p:spPr>
          <a:xfrm>
            <a:off x="252360" y="3706560"/>
            <a:ext cx="1737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Pipeline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572040" y="4444560"/>
            <a:ext cx="21240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Activity: Notebook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Type: On Completion (moves to next step even if it failed / had partial failures)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Retry: 2x / 10 minutes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3256200" y="4160160"/>
            <a:ext cx="250740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3256200" y="416016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3455280" y="4228560"/>
            <a:ext cx="101916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Process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3505680" y="4444560"/>
            <a:ext cx="21240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Activity: Notebook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Type: On Completion (moves to next step even if it failed / had partial failures)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Retry: 2x / 5 minutes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6095880" y="4162320"/>
            <a:ext cx="250740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77" name="Shape 8"/>
          <p:cNvSpPr/>
          <p:nvPr/>
        </p:nvSpPr>
        <p:spPr>
          <a:xfrm>
            <a:off x="6095880" y="416232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78" name="Text 10"/>
          <p:cNvSpPr/>
          <p:nvPr/>
        </p:nvSpPr>
        <p:spPr>
          <a:xfrm>
            <a:off x="6295320" y="4231080"/>
            <a:ext cx="101916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Transform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6"/>
          <p:cNvSpPr/>
          <p:nvPr/>
        </p:nvSpPr>
        <p:spPr>
          <a:xfrm>
            <a:off x="6345720" y="4447080"/>
            <a:ext cx="21240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Activity: Notebook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Type: On Success (stops flow if activity failed)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Retry: 1x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8940600" y="4160160"/>
            <a:ext cx="2507400" cy="144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8940600" y="4160160"/>
            <a:ext cx="81720" cy="1444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9140040" y="4228560"/>
            <a:ext cx="101916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Load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9190080" y="4444560"/>
            <a:ext cx="21240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Activity: Notebook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Type: On Success (stops flow if activity failed)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Retry: 2x / 10 minutes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1694880" y="5869800"/>
            <a:ext cx="8800560" cy="713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1694880" y="5876640"/>
            <a:ext cx="71280" cy="70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1934640" y="5891040"/>
            <a:ext cx="847260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Implement Alerting system – in case any of the activities fails we will email the Team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59"/>
          <p:cNvSpPr/>
          <p:nvPr/>
        </p:nvSpPr>
        <p:spPr>
          <a:xfrm>
            <a:off x="2893320" y="4698720"/>
            <a:ext cx="289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60"/>
          <p:cNvSpPr/>
          <p:nvPr/>
        </p:nvSpPr>
        <p:spPr>
          <a:xfrm>
            <a:off x="5779440" y="4698720"/>
            <a:ext cx="289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61"/>
          <p:cNvSpPr/>
          <p:nvPr/>
        </p:nvSpPr>
        <p:spPr>
          <a:xfrm>
            <a:off x="8653680" y="4695120"/>
            <a:ext cx="289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6179400" y="211284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/>
          </p:nvPr>
        </p:nvSpPr>
        <p:spPr>
          <a:xfrm>
            <a:off x="525960" y="172512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Every operation has multiple fail-safe mechanisms, described below: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Trebuchet MS"/>
                <a:ea typeface="Trebuchet MS"/>
              </a:rPr>
              <a:t>Robustness &amp; Error Handling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609840" y="211284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749160" y="222696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Try/except Blocks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749160" y="2415600"/>
            <a:ext cx="525924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Every download, processing step and transformation are wrapped with these blocks to ensure proper handling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Errors are caught with the actual exception message and logged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Function returns false so the pipeline summary we can see what did not execute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8"/>
          <p:cNvSpPr/>
          <p:nvPr/>
        </p:nvSpPr>
        <p:spPr>
          <a:xfrm>
            <a:off x="595800" y="209556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297" name="Shape 5"/>
          <p:cNvSpPr/>
          <p:nvPr/>
        </p:nvSpPr>
        <p:spPr>
          <a:xfrm>
            <a:off x="6188400" y="2105640"/>
            <a:ext cx="5377680" cy="132156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6464160" y="2226960"/>
            <a:ext cx="308196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OK / FAILED Summary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6436800" y="2226960"/>
            <a:ext cx="484956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Main function in every script collects the True / False Statements and prints out the summary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These ensures easy readable logs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8"/>
          <p:cNvSpPr/>
          <p:nvPr/>
        </p:nvSpPr>
        <p:spPr>
          <a:xfrm>
            <a:off x="6181920" y="211284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6188400" y="366552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6188400" y="365832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6212520" y="367272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6351840" y="378720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Skip-if-exists - Date Folder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6351840" y="3772080"/>
            <a:ext cx="5259240" cy="12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Data is downloaded and date-logged (data/01_raw/2026-03-15/)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If script is run twice on the same day, it will skip all downloads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Saves bandwidth, avoids rate limiting and prevents good data overwrite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6198480" y="3655440"/>
            <a:ext cx="81720" cy="1338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595800" y="3650760"/>
            <a:ext cx="5377680" cy="132156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871560" y="3772080"/>
            <a:ext cx="308196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Raise_for_status() on HTTP calls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844200" y="3843360"/>
            <a:ext cx="484956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Validates the server response before saving anything on disk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Without this check – errors like 404 gets saved as the zip file and the extraction later fails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589320" y="365796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603360" y="5220360"/>
            <a:ext cx="5377680" cy="132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742680" y="5334480"/>
            <a:ext cx="2380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Sources run independently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742680" y="5394960"/>
            <a:ext cx="525924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If any of the sources is unreachable – the others will still download and process completely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The pipeline produces partial but usable 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8"/>
          <p:cNvSpPr/>
          <p:nvPr/>
        </p:nvSpPr>
        <p:spPr>
          <a:xfrm>
            <a:off x="589320" y="520272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6188400" y="5215320"/>
            <a:ext cx="5377680" cy="132156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6464160" y="5336640"/>
            <a:ext cx="308196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Row counts logged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6436800" y="5407920"/>
            <a:ext cx="484956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Every function logs how many rows were loaded and how many remained after the processing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The difference tells us exactly how much data was removed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If this count drops unexpectedly, we can deduce an issue with the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8"/>
          <p:cNvSpPr/>
          <p:nvPr/>
        </p:nvSpPr>
        <p:spPr>
          <a:xfrm>
            <a:off x="6181920" y="5222520"/>
            <a:ext cx="81720" cy="13215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/>
          </p:nvPr>
        </p:nvSpPr>
        <p:spPr>
          <a:xfrm>
            <a:off x="525960" y="1725120"/>
            <a:ext cx="1099548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This pipeline works – but a few improvements would make it production-grade ready: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3880" cy="7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Changes for Production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609840" y="2112840"/>
            <a:ext cx="5377680" cy="77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749160" y="2140200"/>
            <a:ext cx="238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Azure Key Vaults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749160" y="2296080"/>
            <a:ext cx="525924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Replace .env with centralized secrets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Implement automatically rotation of these secrets for improved security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8"/>
          <p:cNvSpPr/>
          <p:nvPr/>
        </p:nvSpPr>
        <p:spPr>
          <a:xfrm>
            <a:off x="595800" y="2095560"/>
            <a:ext cx="81720" cy="793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6188400" y="2105640"/>
            <a:ext cx="5377680" cy="78300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6464160" y="2140200"/>
            <a:ext cx="308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Data Quality Gates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6436800" y="2296080"/>
            <a:ext cx="4849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Validate row counts, check null values and verify data types between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Fail pipeline if we find data quality issues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8"/>
          <p:cNvSpPr/>
          <p:nvPr/>
        </p:nvSpPr>
        <p:spPr>
          <a:xfrm>
            <a:off x="6181920" y="2112840"/>
            <a:ext cx="75240" cy="775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609840" y="3040200"/>
            <a:ext cx="5377680" cy="77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749160" y="3067560"/>
            <a:ext cx="238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Parquet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749160" y="3325680"/>
            <a:ext cx="52592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CSV files are not reliable, and we can lose data like we did in our case – datetime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Parquet preserves types, compresses better (improve cost management) &amp; reads faster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595800" y="3022920"/>
            <a:ext cx="81720" cy="793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6188400" y="3033000"/>
            <a:ext cx="5377680" cy="78300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6464160" y="3067560"/>
            <a:ext cx="308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Dynamic File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6436800" y="3342960"/>
            <a:ext cx="48495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Detect filenames from zip manifest instead of hardcoding values – ‘vehicles.csv’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This would handle source-side filename changes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6181920" y="3040200"/>
            <a:ext cx="75240" cy="775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623880" y="3974040"/>
            <a:ext cx="5377680" cy="77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763200" y="4001040"/>
            <a:ext cx="238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  <a:ea typeface="Trebuchet MS"/>
              </a:rPr>
              <a:t>Azure Blob Storage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763200" y="4157280"/>
            <a:ext cx="525924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Add cloud storage instead of local on-prem filesystem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Accessible for cloud processing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609840" y="3956400"/>
            <a:ext cx="81720" cy="793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6202440" y="3966840"/>
            <a:ext cx="5377680" cy="78300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6478200" y="4001040"/>
            <a:ext cx="308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</a:rPr>
              <a:t>14-day retention clean-up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6"/>
          <p:cNvSpPr/>
          <p:nvPr/>
        </p:nvSpPr>
        <p:spPr>
          <a:xfrm>
            <a:off x="6450840" y="4157280"/>
            <a:ext cx="4849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Remove date-logged folders older than 14 days – removes accumulation of storage on cloud / on-prem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8"/>
          <p:cNvSpPr/>
          <p:nvPr/>
        </p:nvSpPr>
        <p:spPr>
          <a:xfrm>
            <a:off x="6195960" y="3974040"/>
            <a:ext cx="75240" cy="775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45" name="Shape 2"/>
          <p:cNvSpPr/>
          <p:nvPr/>
        </p:nvSpPr>
        <p:spPr>
          <a:xfrm>
            <a:off x="623880" y="4919760"/>
            <a:ext cx="5377680" cy="77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763200" y="4947120"/>
            <a:ext cx="238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Incremental Load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763200" y="5103360"/>
            <a:ext cx="525924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Only process new data since last run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Saves compute time – not processing 2M+ rows of the NHTSA dataset every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609840" y="4902480"/>
            <a:ext cx="81720" cy="793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6202440" y="4912920"/>
            <a:ext cx="5377680" cy="783000"/>
          </a:xfrm>
          <a:prstGeom prst="rect">
            <a:avLst/>
          </a:prstGeom>
          <a:solidFill>
            <a:srgbClr val="1a2744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6478200" y="4947120"/>
            <a:ext cx="308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Trebuchet MS"/>
              </a:rPr>
              <a:t>CI / CD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6450840" y="5103360"/>
            <a:ext cx="4849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Bierstadt (Body)"/>
                <a:ea typeface="Calibri"/>
              </a:rPr>
              <a:t>Version-controlled pipeline definitions with Git integration for controlled deployments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8"/>
          <p:cNvSpPr/>
          <p:nvPr/>
        </p:nvSpPr>
        <p:spPr>
          <a:xfrm>
            <a:off x="6195960" y="4919760"/>
            <a:ext cx="75240" cy="775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3406320" y="5887800"/>
            <a:ext cx="5377680" cy="77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3545640" y="5915160"/>
            <a:ext cx="238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Bierstadt (Body)"/>
              </a:rPr>
              <a:t>Fallback Strategy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3545640" y="6134040"/>
            <a:ext cx="5168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Bierstadt (Body)"/>
                <a:ea typeface="Calibri"/>
              </a:rPr>
              <a:t>Implement alternative ways to acquire the data – either API calls for the missing data (NHTSA / EPA) where possible or automation tool  that creates POST request on form (AFDC source)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3392280" y="5870520"/>
            <a:ext cx="81720" cy="793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 (Body)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12190320" cy="712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975240" y="2346120"/>
            <a:ext cx="1023948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586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Trebuchet MS"/>
              </a:rPr>
              <a:t>Thank You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5181480" y="3443400"/>
            <a:ext cx="1827000" cy="46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t">
            <a:no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1828800" y="3809160"/>
            <a:ext cx="8532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Author: Alexandru Moise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estaltVTI">
  <a:themeElements>
    <a:clrScheme name="Gestalt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 pitchFamily="0" charset="1"/>
        <a:ea typeface=""/>
        <a:cs typeface=""/>
      </a:majorFont>
      <a:minorFont>
        <a:latin typeface="Bierstad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theme_template</Template>
  <TotalTime>207</TotalTime>
  <Application>LibreOffice/25.8.5.2$Linux_X86_64 LibreOffice_project/252c20f6956e3db0b52e6e2f9dda67263513c8fc</Application>
  <AppVersion>15.0000</AppVersion>
  <Words>2390</Words>
  <Paragraphs>273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2026-03-15T07:46:42Z</dcterms:created>
  <dc:creator>Alexandru Moise</dc:creator>
  <dc:description/>
  <dc:language>en-US</dc:language>
  <cp:lastModifiedBy/>
  <dcterms:modified xsi:type="dcterms:W3CDTF">2026-03-15T14:54:48Z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